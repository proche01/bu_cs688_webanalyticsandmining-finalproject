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7" r:id="rId8"/>
    <p:sldId id="268" r:id="rId9"/>
    <p:sldId id="261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2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" y="1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5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0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4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8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8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1557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76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7697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0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2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6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71AC3-4D1C-4B94-BFB1-D39F0DF75477}" type="datetimeFigureOut">
              <a:rPr lang="en-US" smtClean="0"/>
              <a:t>10/15/2018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2E4387-29B9-45D8-94E5-3F3EF451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5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Twitter Stock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667000" y="6367313"/>
            <a:ext cx="4861560" cy="490687"/>
          </a:xfrm>
        </p:spPr>
        <p:txBody>
          <a:bodyPr/>
          <a:lstStyle/>
          <a:p>
            <a:r>
              <a:rPr lang="en-US" dirty="0" smtClean="0"/>
              <a:t>Author: Paul Roche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659467" y="4203233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Mining Twitter for Stock Sentiment Scores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9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Minin</a:t>
            </a:r>
            <a:r>
              <a:rPr lang="en-US" b="1" dirty="0" smtClean="0"/>
              <a:t>g with the </a:t>
            </a:r>
            <a:r>
              <a:rPr lang="en-US" b="1" dirty="0" smtClean="0"/>
              <a:t>Twitter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8823960" cy="4666615"/>
          </a:xfrm>
        </p:spPr>
        <p:txBody>
          <a:bodyPr/>
          <a:lstStyle/>
          <a:p>
            <a:r>
              <a:rPr lang="en-US" dirty="0" smtClean="0"/>
              <a:t>By connecting to Twitter via the Twitter API, we are able to pull the most up to date, current data, from Twitter itself.</a:t>
            </a:r>
          </a:p>
          <a:p>
            <a:r>
              <a:rPr lang="en-US" dirty="0" smtClean="0"/>
              <a:t>Using social media as a data source allows us to put our finger on the pulse of the community</a:t>
            </a:r>
          </a:p>
          <a:p>
            <a:r>
              <a:rPr lang="en-US" dirty="0" smtClean="0"/>
              <a:t>Text mining and preprocessing will be performed on the tweets in order to standardize the content.  These techniques include:</a:t>
            </a:r>
          </a:p>
          <a:p>
            <a:pPr lvl="2"/>
            <a:r>
              <a:rPr lang="en-US" dirty="0" smtClean="0"/>
              <a:t>Removing URLs</a:t>
            </a:r>
          </a:p>
          <a:p>
            <a:pPr lvl="2"/>
            <a:r>
              <a:rPr lang="en-US" dirty="0" smtClean="0"/>
              <a:t>Removing </a:t>
            </a:r>
            <a:r>
              <a:rPr lang="en-US" dirty="0" err="1" smtClean="0"/>
              <a:t>stopwords</a:t>
            </a:r>
            <a:endParaRPr lang="en-US" dirty="0" smtClean="0"/>
          </a:p>
          <a:p>
            <a:pPr lvl="2"/>
            <a:r>
              <a:rPr lang="en-US" dirty="0" smtClean="0"/>
              <a:t>Removing punctuation</a:t>
            </a:r>
          </a:p>
          <a:p>
            <a:pPr lvl="2"/>
            <a:r>
              <a:rPr lang="en-US" dirty="0" smtClean="0"/>
              <a:t>Forcing all text to be lowercase</a:t>
            </a:r>
          </a:p>
          <a:p>
            <a:pPr lvl="2"/>
            <a:r>
              <a:rPr lang="en-US" dirty="0" smtClean="0"/>
              <a:t>Removing </a:t>
            </a:r>
            <a:r>
              <a:rPr lang="en-US" dirty="0" err="1" smtClean="0"/>
              <a:t>emojis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1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9640"/>
          </a:xfrm>
        </p:spPr>
        <p:txBody>
          <a:bodyPr/>
          <a:lstStyle/>
          <a:p>
            <a:r>
              <a:rPr lang="en-US" b="1" dirty="0" smtClean="0"/>
              <a:t>Stock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7800"/>
            <a:ext cx="8596668" cy="5151120"/>
          </a:xfrm>
        </p:spPr>
        <p:txBody>
          <a:bodyPr>
            <a:normAutofit/>
          </a:bodyPr>
          <a:lstStyle/>
          <a:p>
            <a:r>
              <a:rPr lang="en-US" dirty="0" smtClean="0"/>
              <a:t>Two sets of stocks will be selected for the primary analysis:</a:t>
            </a:r>
          </a:p>
          <a:p>
            <a:pPr lvl="1"/>
            <a:r>
              <a:rPr lang="en-US" dirty="0" smtClean="0"/>
              <a:t>Top Gainers:</a:t>
            </a:r>
          </a:p>
          <a:p>
            <a:pPr lvl="2"/>
            <a:r>
              <a:rPr lang="en-US" dirty="0" smtClean="0"/>
              <a:t>I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+11.69%  </a:t>
            </a:r>
            <a:r>
              <a:rPr lang="en-US" dirty="0" smtClean="0">
                <a:solidFill>
                  <a:schemeClr val="tx1"/>
                </a:solidFill>
              </a:rPr>
              <a:t>Intelsat S.A.</a:t>
            </a:r>
          </a:p>
          <a:p>
            <a:pPr lvl="2"/>
            <a:r>
              <a:rPr lang="en-US" dirty="0"/>
              <a:t>ARRY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+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11.92%  </a:t>
            </a:r>
            <a:r>
              <a:rPr lang="en-US" dirty="0" smtClean="0">
                <a:solidFill>
                  <a:schemeClr val="tx1"/>
                </a:solidFill>
              </a:rPr>
              <a:t>Array </a:t>
            </a:r>
            <a:r>
              <a:rPr lang="en-US" dirty="0" err="1" smtClean="0">
                <a:solidFill>
                  <a:schemeClr val="tx1"/>
                </a:solidFill>
              </a:rPr>
              <a:t>BioPHarma</a:t>
            </a:r>
            <a:r>
              <a:rPr lang="en-US" dirty="0" smtClean="0">
                <a:solidFill>
                  <a:schemeClr val="tx1"/>
                </a:solidFill>
              </a:rPr>
              <a:t> Inc.</a:t>
            </a:r>
          </a:p>
          <a:p>
            <a:pPr lvl="2"/>
            <a:r>
              <a:rPr lang="en-US" dirty="0" smtClean="0"/>
              <a:t>CRSP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+10.31%  </a:t>
            </a:r>
            <a:r>
              <a:rPr lang="en-US" dirty="0" smtClean="0">
                <a:solidFill>
                  <a:schemeClr val="tx1"/>
                </a:solidFill>
              </a:rPr>
              <a:t>CRISPR Therapeutics AG</a:t>
            </a:r>
          </a:p>
          <a:p>
            <a:pPr lvl="1"/>
            <a:r>
              <a:rPr lang="en-US" dirty="0" smtClean="0"/>
              <a:t>Top Losers</a:t>
            </a:r>
          </a:p>
          <a:p>
            <a:pPr lvl="2"/>
            <a:r>
              <a:rPr lang="en-US" dirty="0"/>
              <a:t>GWW </a:t>
            </a:r>
            <a:r>
              <a:rPr lang="en-US" dirty="0" smtClean="0">
                <a:solidFill>
                  <a:srgbClr val="FF0000"/>
                </a:solidFill>
              </a:rPr>
              <a:t>-11.95%</a:t>
            </a:r>
            <a:r>
              <a:rPr lang="en-US" dirty="0">
                <a:solidFill>
                  <a:schemeClr val="tx1"/>
                </a:solidFill>
              </a:rPr>
              <a:t> W </a:t>
            </a:r>
            <a:r>
              <a:rPr lang="en-US" dirty="0" err="1">
                <a:solidFill>
                  <a:schemeClr val="tx1"/>
                </a:solidFill>
              </a:rPr>
              <a:t>W</a:t>
            </a:r>
            <a:r>
              <a:rPr lang="en-US" dirty="0">
                <a:solidFill>
                  <a:schemeClr val="tx1"/>
                </a:solidFill>
              </a:rPr>
              <a:t> Grainger </a:t>
            </a:r>
            <a:r>
              <a:rPr lang="en-US" dirty="0" err="1">
                <a:solidFill>
                  <a:schemeClr val="tx1"/>
                </a:solidFill>
              </a:rPr>
              <a:t>Inc</a:t>
            </a:r>
            <a:endParaRPr lang="en-US" dirty="0" smtClean="0">
              <a:solidFill>
                <a:srgbClr val="FF0000"/>
              </a:solidFill>
            </a:endParaRPr>
          </a:p>
          <a:p>
            <a:pPr lvl="2"/>
            <a:r>
              <a:rPr lang="en-US" dirty="0" smtClean="0"/>
              <a:t>ACBFF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FF0000"/>
                </a:solidFill>
              </a:rPr>
              <a:t>7.45% </a:t>
            </a:r>
            <a:r>
              <a:rPr lang="en-US" dirty="0">
                <a:solidFill>
                  <a:schemeClr val="tx1"/>
                </a:solidFill>
              </a:rPr>
              <a:t>Aurora Cannabis</a:t>
            </a:r>
            <a:endParaRPr lang="en-US" dirty="0" smtClean="0">
              <a:solidFill>
                <a:schemeClr val="tx1"/>
              </a:solidFill>
            </a:endParaRPr>
          </a:p>
          <a:p>
            <a:pPr lvl="2"/>
            <a:r>
              <a:rPr lang="en-US" dirty="0" smtClean="0"/>
              <a:t>CGC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FF0000"/>
                </a:solidFill>
              </a:rPr>
              <a:t>6.82% </a:t>
            </a:r>
            <a:r>
              <a:rPr lang="en-US" dirty="0">
                <a:solidFill>
                  <a:schemeClr val="tx1"/>
                </a:solidFill>
              </a:rPr>
              <a:t>Canopy Growth </a:t>
            </a:r>
            <a:r>
              <a:rPr lang="en-US" dirty="0" smtClean="0">
                <a:solidFill>
                  <a:schemeClr val="tx1"/>
                </a:solidFill>
              </a:rPr>
              <a:t>Corporation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Secondary analysis was also performed on a set of 7 handpicked stocks/ETFs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Large capitalization names:  AAPL, GM, GOOG, JNJ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Weekly Gainers/Losers: CVIA (</a:t>
            </a:r>
            <a:r>
              <a:rPr lang="en-US" dirty="0" err="1">
                <a:solidFill>
                  <a:schemeClr val="tx1"/>
                </a:solidFill>
              </a:rPr>
              <a:t>Covia</a:t>
            </a:r>
            <a:r>
              <a:rPr lang="en-US" dirty="0">
                <a:solidFill>
                  <a:schemeClr val="tx1"/>
                </a:solidFill>
              </a:rPr>
              <a:t> Holdings Corp), AU (AngloGold Ashanti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Interestingly, CVIA is a mineral mining company and AU is a gold miner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Largest S&amp;P 500 Index Fund: SPY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55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958" y="609600"/>
            <a:ext cx="1551306" cy="883920"/>
          </a:xfrm>
        </p:spPr>
        <p:txBody>
          <a:bodyPr/>
          <a:lstStyle/>
          <a:p>
            <a:r>
              <a:rPr lang="en-US" b="1" dirty="0" smtClean="0"/>
              <a:t>Losers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4971" y="1584817"/>
            <a:ext cx="2072640" cy="207264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229033" y="639301"/>
            <a:ext cx="1898226" cy="8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Gainers</a:t>
            </a:r>
            <a:endParaRPr lang="en-US" dirty="0"/>
          </a:p>
        </p:txBody>
      </p:sp>
      <p:pic>
        <p:nvPicPr>
          <p:cNvPr id="1030" name="Picture 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1" y="1584817"/>
            <a:ext cx="2079625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945" y="3657457"/>
            <a:ext cx="2073275" cy="207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697480" y="168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5127729" y="1537047"/>
            <a:ext cx="2148840" cy="214884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7276569" y="1537047"/>
            <a:ext cx="2358602" cy="2127394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121505" y="3678267"/>
            <a:ext cx="2148840" cy="2148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98176" y="6076440"/>
            <a:ext cx="67721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Graphs were generated using a package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called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quantmod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 This package is used to “specify, build, trade, and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analyse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quantitative financial trading strategies” (Ryan &amp; Ulrich)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708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Price Analysis for Handpicked stocks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1576" y="1756410"/>
            <a:ext cx="1993366" cy="2430179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0700" y="1756408"/>
            <a:ext cx="1941435" cy="243017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4847893" y="1753426"/>
            <a:ext cx="1943674" cy="2433161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5"/>
          <a:stretch>
            <a:fillRect/>
          </a:stretch>
        </p:blipFill>
        <p:spPr>
          <a:xfrm>
            <a:off x="420453" y="4360078"/>
            <a:ext cx="1970435" cy="2223602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6"/>
          <a:stretch>
            <a:fillRect/>
          </a:stretch>
        </p:blipFill>
        <p:spPr>
          <a:xfrm>
            <a:off x="2605590" y="4358272"/>
            <a:ext cx="1982086" cy="2236838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7"/>
          <a:stretch>
            <a:fillRect/>
          </a:stretch>
        </p:blipFill>
        <p:spPr>
          <a:xfrm>
            <a:off x="4847893" y="4347210"/>
            <a:ext cx="1982086" cy="223647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8"/>
          <a:stretch>
            <a:fillRect/>
          </a:stretch>
        </p:blipFill>
        <p:spPr>
          <a:xfrm>
            <a:off x="6858537" y="2355882"/>
            <a:ext cx="3276600" cy="36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1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3440"/>
          </a:xfrm>
        </p:spPr>
        <p:txBody>
          <a:bodyPr/>
          <a:lstStyle/>
          <a:p>
            <a:r>
              <a:rPr lang="en-US" dirty="0" smtClean="0"/>
              <a:t>Sentiment Analysis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77334" y="2056102"/>
            <a:ext cx="3566160" cy="398526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243494" y="1748790"/>
            <a:ext cx="4091940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3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Word Clouds for Losers vs. Gainers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766769" y="1930400"/>
            <a:ext cx="4091940" cy="409194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272994" y="2228850"/>
            <a:ext cx="3727064" cy="349504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424920" y="1900699"/>
            <a:ext cx="1423213" cy="8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smtClean="0"/>
              <a:t>Losers</a:t>
            </a: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941995" y="1930400"/>
            <a:ext cx="1741487" cy="8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Gainers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60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Word Clouds for Hand Selected Stocks</a:t>
            </a:r>
            <a:endParaRPr lang="en-US" dirty="0"/>
          </a:p>
        </p:txBody>
      </p:sp>
      <p:pic>
        <p:nvPicPr>
          <p:cNvPr id="18" name="Picture 17"/>
          <p:cNvPicPr/>
          <p:nvPr/>
        </p:nvPicPr>
        <p:blipFill>
          <a:blip r:embed="rId2"/>
          <a:stretch>
            <a:fillRect/>
          </a:stretch>
        </p:blipFill>
        <p:spPr>
          <a:xfrm>
            <a:off x="2208954" y="1930400"/>
            <a:ext cx="2415540" cy="2699385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3"/>
          <a:stretch>
            <a:fillRect/>
          </a:stretch>
        </p:blipFill>
        <p:spPr>
          <a:xfrm>
            <a:off x="4273974" y="2225676"/>
            <a:ext cx="1851660" cy="2068830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4"/>
          <a:stretch>
            <a:fillRect/>
          </a:stretch>
        </p:blipFill>
        <p:spPr>
          <a:xfrm>
            <a:off x="677334" y="2055179"/>
            <a:ext cx="2095500" cy="2341245"/>
          </a:xfrm>
          <a:prstGeom prst="rect">
            <a:avLst/>
          </a:prstGeom>
        </p:spPr>
      </p:pic>
      <p:pic>
        <p:nvPicPr>
          <p:cNvPr id="21" name="Picture 20"/>
          <p:cNvPicPr/>
          <p:nvPr/>
        </p:nvPicPr>
        <p:blipFill>
          <a:blip r:embed="rId5"/>
          <a:stretch>
            <a:fillRect/>
          </a:stretch>
        </p:blipFill>
        <p:spPr>
          <a:xfrm>
            <a:off x="814494" y="3988753"/>
            <a:ext cx="1958340" cy="2188210"/>
          </a:xfrm>
          <a:prstGeom prst="rect">
            <a:avLst/>
          </a:prstGeom>
        </p:spPr>
      </p:pic>
      <p:pic>
        <p:nvPicPr>
          <p:cNvPr id="22" name="Picture 21"/>
          <p:cNvPicPr/>
          <p:nvPr/>
        </p:nvPicPr>
        <p:blipFill>
          <a:blip r:embed="rId6"/>
          <a:stretch>
            <a:fillRect/>
          </a:stretch>
        </p:blipFill>
        <p:spPr>
          <a:xfrm>
            <a:off x="2586144" y="3988753"/>
            <a:ext cx="1920240" cy="2145665"/>
          </a:xfrm>
          <a:prstGeom prst="rect">
            <a:avLst/>
          </a:prstGeom>
        </p:spPr>
      </p:pic>
      <p:pic>
        <p:nvPicPr>
          <p:cNvPr id="23" name="Content Placeholder 22"/>
          <p:cNvPicPr>
            <a:picLocks noGrp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4464474" y="3771179"/>
            <a:ext cx="2311713" cy="2623357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8"/>
          <a:stretch>
            <a:fillRect/>
          </a:stretch>
        </p:blipFill>
        <p:spPr>
          <a:xfrm>
            <a:off x="6396144" y="2440782"/>
            <a:ext cx="3037416" cy="309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8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Extra: Analysis with </a:t>
            </a:r>
            <a:r>
              <a:rPr lang="en-US" dirty="0" err="1" smtClean="0"/>
              <a:t>googleVis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7334" y="1524001"/>
            <a:ext cx="7247466" cy="914399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Interactive charts can be created using the </a:t>
            </a:r>
            <a:r>
              <a:rPr lang="en-US" dirty="0" err="1" smtClean="0"/>
              <a:t>googleVis</a:t>
            </a:r>
            <a:r>
              <a:rPr lang="en-US" dirty="0" smtClean="0"/>
              <a:t> package</a:t>
            </a:r>
          </a:p>
          <a:p>
            <a:r>
              <a:rPr lang="en-US" dirty="0" smtClean="0"/>
              <a:t>These charts can be merged to create a master view or dashboard</a:t>
            </a:r>
          </a:p>
          <a:p>
            <a:r>
              <a:rPr lang="en-US" dirty="0" smtClean="0"/>
              <a:t>Charts show volatility among gainers and losers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184295" y="2800669"/>
            <a:ext cx="7582746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8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595360" cy="4531632"/>
          </a:xfrm>
        </p:spPr>
        <p:txBody>
          <a:bodyPr>
            <a:normAutofit/>
          </a:bodyPr>
          <a:lstStyle/>
          <a:p>
            <a:r>
              <a:rPr lang="en-US" dirty="0" smtClean="0"/>
              <a:t>Twitter </a:t>
            </a:r>
            <a:r>
              <a:rPr lang="en-US" dirty="0"/>
              <a:t>mining to be a useful tool in determining social sentiment for a particular </a:t>
            </a:r>
            <a:r>
              <a:rPr lang="en-US" dirty="0" smtClean="0"/>
              <a:t>topic</a:t>
            </a:r>
          </a:p>
          <a:p>
            <a:r>
              <a:rPr lang="en-US" dirty="0" smtClean="0"/>
              <a:t>The </a:t>
            </a:r>
            <a:r>
              <a:rPr lang="en-US" dirty="0"/>
              <a:t>word clouds that can be obtained from mining tweets give a good overview of the contents of a particular topic and enable you to put your finger on the pulse of the </a:t>
            </a:r>
            <a:r>
              <a:rPr lang="en-US" dirty="0" smtClean="0"/>
              <a:t>public</a:t>
            </a:r>
          </a:p>
          <a:p>
            <a:r>
              <a:rPr lang="en-US" dirty="0" smtClean="0"/>
              <a:t>By </a:t>
            </a:r>
            <a:r>
              <a:rPr lang="en-US" dirty="0"/>
              <a:t>combining and standardizing the text in hundreds of tweets, we are able to quiet the noise in the data. 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can be a useful tool in the stock market, where any sort of edge on competition can translate into profits.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4008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20040" y="2300605"/>
            <a:ext cx="10530840" cy="5914763"/>
          </a:xfrm>
        </p:spPr>
        <p:txBody>
          <a:bodyPr>
            <a:normAutofit/>
          </a:bodyPr>
          <a:lstStyle/>
          <a:p>
            <a:pPr algn="ctr"/>
            <a:r>
              <a:rPr lang="en-US" sz="9600" dirty="0" smtClean="0"/>
              <a:t>THE END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50928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Ryan</a:t>
            </a:r>
            <a:r>
              <a:rPr lang="en-US" dirty="0"/>
              <a:t>, J. A. (</a:t>
            </a:r>
            <a:r>
              <a:rPr lang="en-US" dirty="0" err="1"/>
              <a:t>n.d.</a:t>
            </a:r>
            <a:r>
              <a:rPr lang="en-US" dirty="0"/>
              <a:t>). Quantitative Financial Modelling &amp; Trading Framework for R.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Retrieved from http</a:t>
            </a:r>
            <a:r>
              <a:rPr lang="en-US" dirty="0"/>
              <a:t>://www.quantmod.com/examples/intro/</a:t>
            </a:r>
          </a:p>
          <a:p>
            <a:pPr marL="0" indent="0">
              <a:buNone/>
            </a:pPr>
            <a:r>
              <a:rPr lang="en-US" dirty="0" smtClean="0"/>
              <a:t>Ryan</a:t>
            </a:r>
            <a:r>
              <a:rPr lang="en-US" dirty="0"/>
              <a:t>, J. A., &amp; Ulrich, J. M. (</a:t>
            </a:r>
            <a:r>
              <a:rPr lang="en-US" dirty="0" err="1"/>
              <a:t>n.d.</a:t>
            </a:r>
            <a:r>
              <a:rPr lang="en-US" dirty="0"/>
              <a:t>). Quantitative Financial Modelling Framework [R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package </a:t>
            </a:r>
            <a:r>
              <a:rPr lang="en-US" dirty="0" err="1"/>
              <a:t>quantmod</a:t>
            </a:r>
            <a:r>
              <a:rPr lang="en-US" dirty="0"/>
              <a:t> </a:t>
            </a:r>
            <a:r>
              <a:rPr lang="en-US" dirty="0" smtClean="0"/>
              <a:t>version </a:t>
            </a:r>
            <a:r>
              <a:rPr lang="en-US" dirty="0"/>
              <a:t>0.4-13]. Retrieved from https://</a:t>
            </a:r>
            <a:r>
              <a:rPr lang="en-US" dirty="0" smtClean="0"/>
              <a:t>cran.r-	project.org/web/packages/</a:t>
            </a:r>
            <a:r>
              <a:rPr lang="en-US" dirty="0" err="1" smtClean="0"/>
              <a:t>quantmod</a:t>
            </a:r>
            <a:r>
              <a:rPr lang="en-US" dirty="0" smtClean="0"/>
              <a:t>/index.html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794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2884</TotalTime>
  <Words>425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Twitter Stock Analysis</vt:lpstr>
      <vt:lpstr>Mining with the Twitter API</vt:lpstr>
      <vt:lpstr>Stock Selection</vt:lpstr>
      <vt:lpstr>Losers</vt:lpstr>
      <vt:lpstr>Price Analysis for Handpicked stocks</vt:lpstr>
      <vt:lpstr>Sentiment Analysis</vt:lpstr>
      <vt:lpstr>Word Clouds for Losers vs. Gainers</vt:lpstr>
      <vt:lpstr>Word Clouds for Hand Selected Stocks</vt:lpstr>
      <vt:lpstr>Extra: Analysis with googleVis</vt:lpstr>
      <vt:lpstr>Conclusion</vt:lpstr>
      <vt:lpstr>THE END</vt:lpstr>
      <vt:lpstr>References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Cost Data</dc:title>
  <dc:creator>Roche, Paul, Joseph</dc:creator>
  <cp:lastModifiedBy>Roche, Paul, Joseph</cp:lastModifiedBy>
  <cp:revision>16</cp:revision>
  <dcterms:created xsi:type="dcterms:W3CDTF">2018-06-21T09:38:43Z</dcterms:created>
  <dcterms:modified xsi:type="dcterms:W3CDTF">2018-10-17T23:35:16Z</dcterms:modified>
</cp:coreProperties>
</file>